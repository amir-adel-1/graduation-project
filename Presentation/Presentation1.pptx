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528" y="72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0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27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2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1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7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1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4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2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6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1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7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B11CC-95F0-425F-9DA6-E3EBB373A10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FCFC2-52E0-4A34-9EDA-20E47625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0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08718" y="193403"/>
            <a:ext cx="4410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b="1" dirty="0" smtClean="0"/>
              <a:t> </a:t>
            </a:r>
            <a:r>
              <a:rPr lang="en-US" b="1" dirty="0" smtClean="0"/>
              <a:t>Slide 1 – </a:t>
            </a:r>
            <a:r>
              <a:rPr lang="ar-EG" b="1" dirty="0" smtClean="0"/>
              <a:t>مقدمة المشروع (</a:t>
            </a:r>
            <a:r>
              <a:rPr lang="en-US" b="1" dirty="0" smtClean="0"/>
              <a:t>Project Introduction)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45015" y="118031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1</a:t>
            </a:r>
            <a:r>
              <a:rPr lang="en-US" b="1" dirty="0" smtClean="0"/>
              <a:t> </a:t>
            </a:r>
            <a:r>
              <a:rPr lang="ar-EG" b="1" dirty="0" smtClean="0"/>
              <a:t>عنوان المشروع</a:t>
            </a:r>
          </a:p>
          <a:p>
            <a:pPr algn="r" rtl="1"/>
            <a:r>
              <a:rPr lang="ar-EG" b="1" dirty="0" smtClean="0"/>
              <a:t>منصة "صحتي" للخدمات الطبية والصيدلانية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167054" y="2105689"/>
            <a:ext cx="11544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2</a:t>
            </a:r>
            <a:r>
              <a:rPr lang="en-US" b="1" dirty="0" smtClean="0"/>
              <a:t> </a:t>
            </a:r>
            <a:r>
              <a:rPr lang="ar-EG" b="1" dirty="0" smtClean="0"/>
              <a:t>وصف مختصر</a:t>
            </a:r>
          </a:p>
          <a:p>
            <a:pPr algn="r" rtl="1"/>
            <a:r>
              <a:rPr lang="ar-EG" dirty="0" smtClean="0"/>
              <a:t>منصة ويب متكاملة لتسهيل الوصول للأدوية، وإدارة الطلبات، وتوفير معلومات دوائية دقيقة، وربط المستخدمين بالصيدليات والاستشارات الطبية.</a:t>
            </a:r>
            <a:endParaRPr lang="ar-EG" dirty="0"/>
          </a:p>
        </p:txBody>
      </p:sp>
      <p:sp>
        <p:nvSpPr>
          <p:cNvPr id="7" name="Rectangle 6"/>
          <p:cNvSpPr/>
          <p:nvPr/>
        </p:nvSpPr>
        <p:spPr>
          <a:xfrm>
            <a:off x="5615354" y="303105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3</a:t>
            </a:r>
            <a:r>
              <a:rPr lang="en-US" b="1" dirty="0" smtClean="0"/>
              <a:t> </a:t>
            </a:r>
            <a:r>
              <a:rPr lang="ar-EG" b="1" dirty="0" smtClean="0"/>
              <a:t>أهداف المشروع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تسهيل العثور على الأدوية ومتابعة توفرها.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تقديم معلومات طبية ودوائية موثوقة.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إدارة شاملة لطلبات الأدوية العادية والناقصة.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دعم محادثة طبية ذكية عبر شات بوت.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تحسين تجربة الاستخدام من خلال واجهات بسيطة وواضحة.</a:t>
            </a:r>
            <a:endParaRPr lang="ar-EG" dirty="0"/>
          </a:p>
        </p:txBody>
      </p:sp>
      <p:sp>
        <p:nvSpPr>
          <p:cNvPr id="8" name="Rectangle 7"/>
          <p:cNvSpPr/>
          <p:nvPr/>
        </p:nvSpPr>
        <p:spPr>
          <a:xfrm>
            <a:off x="7227276" y="4897206"/>
            <a:ext cx="44840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4</a:t>
            </a:r>
            <a:r>
              <a:rPr lang="en-US" b="1" dirty="0" smtClean="0"/>
              <a:t> </a:t>
            </a:r>
            <a:r>
              <a:rPr lang="ar-EG" b="1" dirty="0" smtClean="0"/>
              <a:t>الفئات المستهدفة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 smtClean="0"/>
              <a:t>User – </a:t>
            </a:r>
            <a:r>
              <a:rPr lang="ar-EG" b="1" dirty="0" smtClean="0"/>
              <a:t>المستخدم</a:t>
            </a:r>
            <a:endParaRPr lang="ar-EG" dirty="0" smtClean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 smtClean="0"/>
              <a:t>Pharmacist – </a:t>
            </a:r>
            <a:r>
              <a:rPr lang="ar-EG" b="1" dirty="0" smtClean="0"/>
              <a:t>الصيدلي</a:t>
            </a:r>
            <a:endParaRPr lang="ar-EG" dirty="0" smtClean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 smtClean="0"/>
              <a:t>Admin – </a:t>
            </a:r>
            <a:r>
              <a:rPr lang="ar-EG" b="1" dirty="0" smtClean="0"/>
              <a:t>الأدمن</a:t>
            </a:r>
            <a:endParaRPr lang="ar-EG" dirty="0" smtClean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 smtClean="0"/>
              <a:t>Guest – </a:t>
            </a:r>
            <a:r>
              <a:rPr lang="ar-EG" b="1" dirty="0" smtClean="0"/>
              <a:t>الزائر</a:t>
            </a:r>
            <a:endParaRPr lang="ar-EG" dirty="0"/>
          </a:p>
        </p:txBody>
      </p:sp>
      <p:sp>
        <p:nvSpPr>
          <p:cNvPr id="9" name="Rectangle 8"/>
          <p:cNvSpPr/>
          <p:nvPr/>
        </p:nvSpPr>
        <p:spPr>
          <a:xfrm>
            <a:off x="597876" y="4897206"/>
            <a:ext cx="534132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5</a:t>
            </a:r>
            <a:r>
              <a:rPr lang="en-US" b="1" dirty="0" smtClean="0"/>
              <a:t> </a:t>
            </a:r>
            <a:r>
              <a:rPr lang="ar-EG" b="1" dirty="0" smtClean="0"/>
              <a:t>المشكلة التي نحلّها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صعوبة معرفة توفر الأدوية.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نقص المعلومات الدوائية الموثوقة.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عدم وجود تواصل فوري بين المستخدم والصيدليات.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احتياج المستخدم لمنصة تجمع خدمات طبية مختلفة في مكان واحد.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078669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48823" y="219780"/>
            <a:ext cx="5284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dirty="0" smtClean="0"/>
              <a:t>Slide 2 – </a:t>
            </a:r>
            <a:r>
              <a:rPr lang="ar-EG" dirty="0" smtClean="0"/>
              <a:t>نظام الدخول والصلاحيات (</a:t>
            </a:r>
            <a:r>
              <a:rPr lang="en-US" dirty="0" smtClean="0"/>
              <a:t>Authentication &amp; Roles)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688123" y="918727"/>
            <a:ext cx="100144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1</a:t>
            </a:r>
            <a:r>
              <a:rPr lang="en-US" b="1" dirty="0" smtClean="0"/>
              <a:t> </a:t>
            </a:r>
            <a:r>
              <a:rPr lang="ar-EG" b="1" dirty="0" smtClean="0"/>
              <a:t>نظرة عامة</a:t>
            </a:r>
          </a:p>
          <a:p>
            <a:pPr algn="r" rtl="1"/>
            <a:r>
              <a:rPr lang="ar-EG" dirty="0" smtClean="0"/>
              <a:t>يوفّر النظام 4 طرق مختلفة للدخول، وكل دور له صلاحيات خاصة وواجهة مختلفة لضمان التحكم الكامل في الخدمات.</a:t>
            </a:r>
            <a:endParaRPr lang="ar-EG" dirty="0"/>
          </a:p>
        </p:txBody>
      </p:sp>
      <p:sp>
        <p:nvSpPr>
          <p:cNvPr id="13" name="Rectangle 12"/>
          <p:cNvSpPr/>
          <p:nvPr/>
        </p:nvSpPr>
        <p:spPr>
          <a:xfrm>
            <a:off x="5606561" y="156505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2</a:t>
            </a:r>
            <a:r>
              <a:rPr lang="en-US" b="1" dirty="0" smtClean="0"/>
              <a:t> </a:t>
            </a:r>
            <a:r>
              <a:rPr lang="ar-EG" b="1" dirty="0" smtClean="0"/>
              <a:t>أنواع المستخدمين</a:t>
            </a:r>
          </a:p>
          <a:p>
            <a:pPr algn="r" rtl="1"/>
            <a:r>
              <a:rPr lang="ar-EG" b="1" dirty="0" smtClean="0"/>
              <a:t>1) الزائر (</a:t>
            </a:r>
            <a:r>
              <a:rPr lang="en-US" b="1" dirty="0" smtClean="0"/>
              <a:t>Guest)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يستطيع تصفّح الموقع فقط.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عند محاولة استخدام أي ميزة → يظهر تنبيه للتسجيل أو تسجيل الدخول.</a:t>
            </a:r>
            <a:endParaRPr lang="ar-EG" dirty="0"/>
          </a:p>
        </p:txBody>
      </p:sp>
      <p:sp>
        <p:nvSpPr>
          <p:cNvPr id="14" name="Rectangle 13"/>
          <p:cNvSpPr/>
          <p:nvPr/>
        </p:nvSpPr>
        <p:spPr>
          <a:xfrm>
            <a:off x="6548822" y="2671526"/>
            <a:ext cx="515373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2) المستخدم (</a:t>
            </a:r>
            <a:r>
              <a:rPr lang="en-US" b="1" dirty="0" smtClean="0"/>
              <a:t>User)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يملك صلاحيات كاملة داخل النظام: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تصفح المنتجات وإضافتها للعربة أو المفضلة.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طلب الأدوية الناقصة.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عمل أوردرات والدفع (</a:t>
            </a:r>
            <a:r>
              <a:rPr lang="en-US" dirty="0" smtClean="0"/>
              <a:t>Visa / Cash).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استخدام الشات الطبي.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الاستفسار عن دواء (صورة/اسم).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متابعة الإشعارات.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تعديل بياناته من الملف الشخصي.</a:t>
            </a:r>
            <a:endParaRPr lang="ar-EG" dirty="0"/>
          </a:p>
        </p:txBody>
      </p:sp>
      <p:sp>
        <p:nvSpPr>
          <p:cNvPr id="15" name="Rectangle 14"/>
          <p:cNvSpPr/>
          <p:nvPr/>
        </p:nvSpPr>
        <p:spPr>
          <a:xfrm>
            <a:off x="7877908" y="5187023"/>
            <a:ext cx="382465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3) الصيدلي (</a:t>
            </a:r>
            <a:r>
              <a:rPr lang="en-US" b="1" dirty="0" smtClean="0"/>
              <a:t>Pharmacist)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يقدر يشوف طلبات الأدوية الناقصة.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يرد على الطلبات ويحدد الكمية المتاحة.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إرسال إشعارات للمستخدمين عند توفر الدواء.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تعديل بيانات الصيدلية من خلال ملفه الشخصي.</a:t>
            </a:r>
            <a:endParaRPr lang="ar-EG" dirty="0"/>
          </a:p>
        </p:txBody>
      </p:sp>
      <p:sp>
        <p:nvSpPr>
          <p:cNvPr id="16" name="Rectangle 15"/>
          <p:cNvSpPr/>
          <p:nvPr/>
        </p:nvSpPr>
        <p:spPr>
          <a:xfrm>
            <a:off x="810005" y="1746157"/>
            <a:ext cx="42730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4) الأدمن (</a:t>
            </a:r>
            <a:r>
              <a:rPr lang="en-US" b="1" dirty="0" smtClean="0"/>
              <a:t>Admin)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التحكم الكامل في النظام: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إدارة المستخدمين والصيدليات.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إدارة الطلبات.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عرض الإحصائيات.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مراقبة الحسابات الجديدة.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حظر/تعديل/حذف أي مستخدم أو صيدلية.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متابعة حالة الطلبات اليومية.</a:t>
            </a:r>
            <a:endParaRPr lang="ar-EG" dirty="0"/>
          </a:p>
        </p:txBody>
      </p:sp>
      <p:sp>
        <p:nvSpPr>
          <p:cNvPr id="17" name="Rectangle 16"/>
          <p:cNvSpPr/>
          <p:nvPr/>
        </p:nvSpPr>
        <p:spPr>
          <a:xfrm>
            <a:off x="634159" y="4461617"/>
            <a:ext cx="44489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3</a:t>
            </a:r>
            <a:r>
              <a:rPr lang="en-US" b="1" dirty="0" smtClean="0"/>
              <a:t> </a:t>
            </a:r>
            <a:r>
              <a:rPr lang="ar-EG" b="1" dirty="0" smtClean="0"/>
              <a:t>هدف النظام</a:t>
            </a:r>
          </a:p>
          <a:p>
            <a:pPr algn="r" rtl="1"/>
            <a:r>
              <a:rPr lang="ar-EG" dirty="0" smtClean="0"/>
              <a:t>توفير إدارة دقيقة ومقسّمة بطريقة تضمن: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الأمن.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تنظيم الصلاحيات.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وضوح المهام لكل دور.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منع أي دور من الوصول لمميزات غير مسموح بها له.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57215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920059" y="254949"/>
            <a:ext cx="38956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dirty="0" smtClean="0"/>
              <a:t>Slide 3 – </a:t>
            </a:r>
            <a:r>
              <a:rPr lang="ar-EG" dirty="0" smtClean="0"/>
              <a:t>واجهة المستخدم (</a:t>
            </a:r>
            <a:r>
              <a:rPr lang="en-US" dirty="0" smtClean="0"/>
              <a:t>User Dashboard)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719741" y="78684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1</a:t>
            </a:r>
            <a:r>
              <a:rPr lang="en-US" b="1" dirty="0" smtClean="0"/>
              <a:t> </a:t>
            </a:r>
            <a:r>
              <a:rPr lang="ar-EG" b="1" dirty="0" smtClean="0"/>
              <a:t>نظرة عامة</a:t>
            </a:r>
          </a:p>
          <a:p>
            <a:pPr algn="r" rtl="1"/>
            <a:r>
              <a:rPr lang="ar-EG" dirty="0" smtClean="0"/>
              <a:t>واجهة المستخدم هي الجزء الرئيسي الذي يتفاعل معه المستخدم بعد تسجيل الدخول، وتوفّر جميع الخدمات الطبية والصيدلانية بشكل بسيط وسهل.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5719741" y="187273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2</a:t>
            </a:r>
            <a:r>
              <a:rPr lang="en-US" b="1" dirty="0" smtClean="0"/>
              <a:t> </a:t>
            </a:r>
            <a:r>
              <a:rPr lang="ar-EG" b="1" dirty="0" smtClean="0"/>
              <a:t>مكوّنات الواجهة الرئيسية</a:t>
            </a:r>
          </a:p>
          <a:p>
            <a:pPr algn="r" rtl="1"/>
            <a:r>
              <a:rPr lang="ar-EG" b="1" dirty="0" smtClean="0"/>
              <a:t>1) الصفحة الرئيسية (</a:t>
            </a:r>
            <a:r>
              <a:rPr lang="en-US" b="1" dirty="0" smtClean="0"/>
              <a:t>Home)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عرض نبذة عن المنصة وخدماتها.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الوصول السريع: المنتجات – النصائح الصحية – الاستفسار عن دواء – اسأل طبيب.</a:t>
            </a:r>
            <a:endParaRPr lang="ar-EG" dirty="0"/>
          </a:p>
        </p:txBody>
      </p:sp>
      <p:sp>
        <p:nvSpPr>
          <p:cNvPr id="7" name="Rectangle 6"/>
          <p:cNvSpPr/>
          <p:nvPr/>
        </p:nvSpPr>
        <p:spPr>
          <a:xfrm>
            <a:off x="7762487" y="3350061"/>
            <a:ext cx="40532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2) المنتجات (</a:t>
            </a:r>
            <a:r>
              <a:rPr lang="en-US" b="1" dirty="0" smtClean="0"/>
              <a:t>Products) – </a:t>
            </a:r>
            <a:r>
              <a:rPr lang="ar-EG" b="1" dirty="0" smtClean="0"/>
              <a:t>عبر </a:t>
            </a:r>
            <a:r>
              <a:rPr lang="en-US" b="1" dirty="0" smtClean="0"/>
              <a:t>API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عرض جميع الأدوية مع الاسم والسعر والصورة.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البحث عن أي دواء حسب الاسم.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إمكانية الإضافة: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إلى عربة المشتريات</a:t>
            </a:r>
            <a:endParaRPr lang="ar-EG" dirty="0" smtClean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إلى المفضلة</a:t>
            </a:r>
            <a:endParaRPr lang="ar-EG" dirty="0"/>
          </a:p>
        </p:txBody>
      </p:sp>
      <p:sp>
        <p:nvSpPr>
          <p:cNvPr id="8" name="Rectangle 7"/>
          <p:cNvSpPr/>
          <p:nvPr/>
        </p:nvSpPr>
        <p:spPr>
          <a:xfrm>
            <a:off x="7973157" y="5104387"/>
            <a:ext cx="37894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3) اسأل طبيب (</a:t>
            </a:r>
            <a:r>
              <a:rPr lang="en-US" b="1" dirty="0" smtClean="0"/>
              <a:t>AI </a:t>
            </a:r>
            <a:r>
              <a:rPr lang="en-US" b="1" dirty="0" err="1" smtClean="0"/>
              <a:t>Chatbot</a:t>
            </a:r>
            <a:r>
              <a:rPr lang="en-US" b="1" dirty="0" smtClean="0"/>
              <a:t>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شات بوت ذكي مخصّص للمحتوى الطبي فقط.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يقدّم نصائح عامة وإجابات طبية بسيطة.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يمنع الردود التي تتجاوز النطاق الآمن.</a:t>
            </a:r>
            <a:endParaRPr lang="ar-EG" dirty="0"/>
          </a:p>
        </p:txBody>
      </p:sp>
      <p:sp>
        <p:nvSpPr>
          <p:cNvPr id="9" name="Rectangle 8"/>
          <p:cNvSpPr/>
          <p:nvPr/>
        </p:nvSpPr>
        <p:spPr>
          <a:xfrm>
            <a:off x="1310054" y="0"/>
            <a:ext cx="358726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4) الاستفسار عن دواء (</a:t>
            </a:r>
            <a:r>
              <a:rPr lang="en-US" b="1" dirty="0" smtClean="0"/>
              <a:t>Medicine Info)</a:t>
            </a:r>
          </a:p>
          <a:p>
            <a:pPr algn="r" rtl="1"/>
            <a:r>
              <a:rPr lang="ar-EG" dirty="0" smtClean="0"/>
              <a:t>يمكن للمستخدم: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رفع صورة دواء أو كتابة اسمه.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يحصل على تفاصيل كاملة: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الاسم العلمي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الاسم التجاري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الاستخدامات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الجرعة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الآثار الجانبية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التحذيرات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التفاعلات الدوائية</a:t>
            </a:r>
            <a:endParaRPr lang="ar-EG" dirty="0"/>
          </a:p>
        </p:txBody>
      </p:sp>
      <p:sp>
        <p:nvSpPr>
          <p:cNvPr id="10" name="Rectangle 9"/>
          <p:cNvSpPr/>
          <p:nvPr/>
        </p:nvSpPr>
        <p:spPr>
          <a:xfrm>
            <a:off x="501161" y="3139321"/>
            <a:ext cx="45192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5) النصائح الصحية (</a:t>
            </a:r>
            <a:r>
              <a:rPr lang="en-US" b="1" dirty="0" smtClean="0"/>
              <a:t>Health Tips)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نصائح يومية متجددة لتحسين الصحة العامة.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تصنيف النصائح: غذاء – رياضة – نوم – عادات صحية.</a:t>
            </a:r>
            <a:endParaRPr lang="ar-EG" dirty="0"/>
          </a:p>
        </p:txBody>
      </p:sp>
      <p:sp>
        <p:nvSpPr>
          <p:cNvPr id="11" name="Rectangle 10"/>
          <p:cNvSpPr/>
          <p:nvPr/>
        </p:nvSpPr>
        <p:spPr>
          <a:xfrm>
            <a:off x="1195754" y="4798313"/>
            <a:ext cx="37015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3</a:t>
            </a:r>
            <a:r>
              <a:rPr lang="en-US" b="1" dirty="0" smtClean="0"/>
              <a:t> </a:t>
            </a:r>
            <a:r>
              <a:rPr lang="ar-EG" b="1" dirty="0" smtClean="0"/>
              <a:t>الهدف من الواجهة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تسهيل الوصول السريع لكل خدمات المنصة.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تقديم تجربة استخدام واضحة وسهلة.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دعم المستخدم بالمعلومات الطبية الدقيقة.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113616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18586" y="219781"/>
            <a:ext cx="5498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dirty="0" smtClean="0"/>
              <a:t>Slide 4 – </a:t>
            </a:r>
            <a:r>
              <a:rPr lang="ar-EG" dirty="0" smtClean="0"/>
              <a:t>طلبات الأدوية الناقصة (</a:t>
            </a:r>
            <a:r>
              <a:rPr lang="en-US" dirty="0" smtClean="0"/>
              <a:t>Missing Medicines Requests)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97770" y="78684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1</a:t>
            </a:r>
            <a:r>
              <a:rPr lang="en-US" b="1" dirty="0" smtClean="0"/>
              <a:t> </a:t>
            </a:r>
            <a:r>
              <a:rPr lang="ar-EG" b="1" dirty="0" smtClean="0"/>
              <a:t>فكرة الميزة</a:t>
            </a:r>
          </a:p>
          <a:p>
            <a:pPr algn="r" rtl="1"/>
            <a:r>
              <a:rPr lang="ar-EG" dirty="0" smtClean="0"/>
              <a:t>تسمح للمستخدم بطلب أي دواء غير متوفر في السوق أو في صفحة المنتجات؛ ليقوم الصيادلة بالرد عليه وتحديد توفر الدواء لديهم.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8645770" y="1819898"/>
            <a:ext cx="3086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2</a:t>
            </a:r>
            <a:r>
              <a:rPr lang="en-US" b="1" dirty="0" smtClean="0"/>
              <a:t> </a:t>
            </a:r>
            <a:r>
              <a:rPr lang="ar-EG" b="1" dirty="0" smtClean="0"/>
              <a:t>خطوات المستخدم داخل الميزة</a:t>
            </a:r>
          </a:p>
          <a:p>
            <a:pPr algn="r" rtl="1"/>
            <a:r>
              <a:rPr lang="ar-EG" b="1" dirty="0" smtClean="0"/>
              <a:t>1) إنشاء طلب جديد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يكتب اسم الدواء المطلوب.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يحدد الكمية.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الضغط على "إرسال طلب".</a:t>
            </a:r>
            <a:endParaRPr lang="ar-EG" dirty="0"/>
          </a:p>
        </p:txBody>
      </p:sp>
      <p:sp>
        <p:nvSpPr>
          <p:cNvPr id="7" name="Rectangle 6"/>
          <p:cNvSpPr/>
          <p:nvPr/>
        </p:nvSpPr>
        <p:spPr>
          <a:xfrm>
            <a:off x="8607670" y="3406951"/>
            <a:ext cx="30861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2) ظهور الطلب في قسم "طلباتي"</a:t>
            </a:r>
          </a:p>
          <a:p>
            <a:pPr algn="r" rtl="1"/>
            <a:r>
              <a:rPr lang="ar-EG" dirty="0" smtClean="0"/>
              <a:t>كل طلب يظهر في فاتورة تحتوي على: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رقم الطلب (</a:t>
            </a:r>
            <a:r>
              <a:rPr lang="en-US" dirty="0" smtClean="0"/>
              <a:t>ID)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اسم الدواء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الكمية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التاريخ والوقت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الحالة: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قيد المراجعة</a:t>
            </a:r>
            <a:endParaRPr lang="ar-EG" dirty="0" smtClean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مقبول / متوفر</a:t>
            </a:r>
            <a:endParaRPr lang="ar-EG" dirty="0"/>
          </a:p>
        </p:txBody>
      </p:sp>
      <p:sp>
        <p:nvSpPr>
          <p:cNvPr id="8" name="Rectangle 7"/>
          <p:cNvSpPr/>
          <p:nvPr/>
        </p:nvSpPr>
        <p:spPr>
          <a:xfrm>
            <a:off x="1688122" y="342570"/>
            <a:ext cx="26728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3) خيارات المستخدم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عرض تفاصيل الطلب</a:t>
            </a:r>
            <a:endParaRPr lang="ar-EG" dirty="0" smtClean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تعديل الطلب</a:t>
            </a:r>
            <a:endParaRPr lang="ar-EG" dirty="0" smtClean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حذف الطلب</a:t>
            </a:r>
            <a:endParaRPr lang="ar-EG" dirty="0" smtClean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مشاهدة الردود من الصيدليات</a:t>
            </a:r>
            <a:endParaRPr lang="ar-EG" dirty="0"/>
          </a:p>
        </p:txBody>
      </p:sp>
      <p:sp>
        <p:nvSpPr>
          <p:cNvPr id="9" name="Rectangle 8"/>
          <p:cNvSpPr/>
          <p:nvPr/>
        </p:nvSpPr>
        <p:spPr>
          <a:xfrm>
            <a:off x="1535570" y="2019861"/>
            <a:ext cx="28254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3</a:t>
            </a:r>
            <a:r>
              <a:rPr lang="en-US" b="1" dirty="0" smtClean="0"/>
              <a:t> </a:t>
            </a:r>
            <a:r>
              <a:rPr lang="ar-EG" b="1" dirty="0" smtClean="0"/>
              <a:t>رد الصيدليات على الطلب</a:t>
            </a:r>
          </a:p>
          <a:p>
            <a:pPr algn="r" rtl="1"/>
            <a:r>
              <a:rPr lang="ar-EG" dirty="0" smtClean="0"/>
              <a:t>عندما يرد صيدلي يظهر للمستخدم: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اسم الصيدلية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عنوانها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رقم الهاتف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البريد الإلكتروني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الكمية المتاحة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تاريخ ووقت الرد</a:t>
            </a:r>
            <a:endParaRPr lang="ar-EG" dirty="0"/>
          </a:p>
        </p:txBody>
      </p:sp>
      <p:sp>
        <p:nvSpPr>
          <p:cNvPr id="10" name="Rectangle 9"/>
          <p:cNvSpPr/>
          <p:nvPr/>
        </p:nvSpPr>
        <p:spPr>
          <a:xfrm>
            <a:off x="720970" y="4528148"/>
            <a:ext cx="3771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 </a:t>
            </a:r>
            <a:r>
              <a:rPr lang="ar-EG" b="1" dirty="0" smtClean="0"/>
              <a:t>4هدف النظام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توفير وسيلة سريعة لمعرفة توفر الأدوية النادرة.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ربط المستخدم بعدة صيدليات في وقت واحد.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إدارة الطلبات بشكل منظم وواضح.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63786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23920" y="237364"/>
            <a:ext cx="5351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dirty="0" smtClean="0"/>
              <a:t>Slide 5 – </a:t>
            </a:r>
            <a:r>
              <a:rPr lang="ar-EG" dirty="0" smtClean="0"/>
              <a:t>نظام الأوردرات والدفع (</a:t>
            </a:r>
            <a:r>
              <a:rPr lang="en-US" dirty="0" smtClean="0"/>
              <a:t>Orders &amp; Payment System)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712070" y="81322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1</a:t>
            </a:r>
            <a:r>
              <a:rPr lang="en-US" b="1" dirty="0" smtClean="0"/>
              <a:t> </a:t>
            </a:r>
            <a:r>
              <a:rPr lang="ar-EG" b="1" dirty="0" smtClean="0"/>
              <a:t>نظرة عامة</a:t>
            </a:r>
          </a:p>
          <a:p>
            <a:pPr algn="r" rtl="1"/>
            <a:r>
              <a:rPr lang="ar-EG" dirty="0" smtClean="0"/>
              <a:t>يسمح للمستخدم بطلب الأدوية المتاحة من صفحة المنتجات، وإدارة الفواتير والدفع وتجهيز الطلب حتى وصوله للمندوب.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8141678" y="1826430"/>
            <a:ext cx="36663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2</a:t>
            </a:r>
            <a:r>
              <a:rPr lang="en-US" b="1" dirty="0" smtClean="0"/>
              <a:t> </a:t>
            </a:r>
            <a:r>
              <a:rPr lang="ar-EG" b="1" dirty="0" smtClean="0"/>
              <a:t>الفاتورة (</a:t>
            </a:r>
            <a:r>
              <a:rPr lang="en-US" b="1" dirty="0" smtClean="0"/>
              <a:t>Order Invoice)</a:t>
            </a:r>
          </a:p>
          <a:p>
            <a:pPr algn="r" rtl="1"/>
            <a:r>
              <a:rPr lang="ar-EG" dirty="0" smtClean="0"/>
              <a:t>كل أوردر يتم تسجيله في فاتورة تحتوي على: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رقم الفاتورة (</a:t>
            </a:r>
            <a:r>
              <a:rPr lang="en-US" dirty="0" smtClean="0"/>
              <a:t>Order ID)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عدد عناصر الطلب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السعر الكلي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طريقة الدفع (</a:t>
            </a:r>
            <a:r>
              <a:rPr lang="en-US" dirty="0" smtClean="0"/>
              <a:t>Visa / Cash)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التاريخ والوقت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الحالة (جديد – مكتمل – تحت التجهيز)</a:t>
            </a:r>
            <a:endParaRPr lang="ar-EG" dirty="0"/>
          </a:p>
        </p:txBody>
      </p:sp>
      <p:sp>
        <p:nvSpPr>
          <p:cNvPr id="7" name="Rectangle 6"/>
          <p:cNvSpPr/>
          <p:nvPr/>
        </p:nvSpPr>
        <p:spPr>
          <a:xfrm>
            <a:off x="8376140" y="4224634"/>
            <a:ext cx="34319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3</a:t>
            </a:r>
            <a:r>
              <a:rPr lang="en-US" b="1" dirty="0" smtClean="0"/>
              <a:t> </a:t>
            </a:r>
            <a:r>
              <a:rPr lang="ar-EG" b="1" dirty="0" smtClean="0"/>
              <a:t>تفاصيل الأوردر (</a:t>
            </a:r>
            <a:r>
              <a:rPr lang="en-US" b="1" dirty="0" smtClean="0"/>
              <a:t>Order Details)</a:t>
            </a:r>
          </a:p>
          <a:p>
            <a:pPr algn="r" rtl="1"/>
            <a:r>
              <a:rPr lang="ar-EG" dirty="0" smtClean="0"/>
              <a:t>عند الضغط على عرض التفاصيل تظهر: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قائمة المنتجات المطلوبة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أسعار كل منتج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الكمية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المجموع النهائي</a:t>
            </a:r>
          </a:p>
          <a:p>
            <a:pPr algn="r" rtl="1"/>
            <a:r>
              <a:rPr lang="ar-EG" i="1" dirty="0" smtClean="0"/>
              <a:t>تُعرض داخل </a:t>
            </a:r>
            <a:r>
              <a:rPr lang="en-US" i="1" dirty="0" smtClean="0"/>
              <a:t>Pop-Up </a:t>
            </a:r>
            <a:r>
              <a:rPr lang="ar-EG" i="1" dirty="0" smtClean="0"/>
              <a:t>منظمة وواضحة.</a:t>
            </a:r>
            <a:endParaRPr lang="ar-EG" dirty="0"/>
          </a:p>
        </p:txBody>
      </p:sp>
      <p:sp>
        <p:nvSpPr>
          <p:cNvPr id="8" name="Rectangle 7"/>
          <p:cNvSpPr/>
          <p:nvPr/>
        </p:nvSpPr>
        <p:spPr>
          <a:xfrm>
            <a:off x="1793629" y="120723"/>
            <a:ext cx="318281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4</a:t>
            </a:r>
            <a:r>
              <a:rPr lang="en-US" b="1" dirty="0" smtClean="0"/>
              <a:t> </a:t>
            </a:r>
            <a:r>
              <a:rPr lang="ar-EG" b="1" dirty="0" smtClean="0"/>
              <a:t>عربة المشتريات (</a:t>
            </a:r>
            <a:r>
              <a:rPr lang="en-US" b="1" dirty="0" smtClean="0"/>
              <a:t>Shopping Cart)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إضافة أدوية – حذف – تعديل الكميات.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عرض السعر الكلّي.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حساب: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سعر المنتجات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الضريبة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رسوم الشحن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الإجمالي النهائي</a:t>
            </a:r>
            <a:endParaRPr lang="ar-EG" dirty="0"/>
          </a:p>
        </p:txBody>
      </p:sp>
      <p:sp>
        <p:nvSpPr>
          <p:cNvPr id="9" name="Rectangle 8"/>
          <p:cNvSpPr/>
          <p:nvPr/>
        </p:nvSpPr>
        <p:spPr>
          <a:xfrm>
            <a:off x="-63012" y="2703593"/>
            <a:ext cx="510833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5</a:t>
            </a:r>
            <a:r>
              <a:rPr lang="en-US" b="1" dirty="0" smtClean="0"/>
              <a:t> </a:t>
            </a:r>
            <a:r>
              <a:rPr lang="ar-EG" b="1" dirty="0" smtClean="0"/>
              <a:t>طرق الدفع (</a:t>
            </a:r>
            <a:r>
              <a:rPr lang="en-US" b="1" dirty="0" smtClean="0"/>
              <a:t>Payment Methods)</a:t>
            </a:r>
          </a:p>
          <a:p>
            <a:pPr algn="r" rtl="1"/>
            <a:r>
              <a:rPr lang="en-US" b="1" dirty="0" smtClean="0"/>
              <a:t>1) </a:t>
            </a:r>
            <a:r>
              <a:rPr lang="ar-EG" b="1" dirty="0" smtClean="0"/>
              <a:t>الدفع بالفيزا (</a:t>
            </a:r>
            <a:r>
              <a:rPr lang="en-US" b="1" dirty="0" smtClean="0"/>
              <a:t>Online Payment)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إدخال بيانات البطاقة.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تأكيد الدفع.</a:t>
            </a:r>
          </a:p>
          <a:p>
            <a:pPr algn="r" rtl="1"/>
            <a:r>
              <a:rPr lang="ar-EG" b="1" dirty="0" smtClean="0"/>
              <a:t>2) الدفع عند الاستلام (</a:t>
            </a:r>
            <a:r>
              <a:rPr lang="en-US" b="1" dirty="0" smtClean="0"/>
              <a:t>Cash)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جلب بيانات: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رقم الهاتف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العنوان من قاعدة البيانات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عرض ملخص الطلب (عدد المنتجات – الإجمالي – رسوم الشحن).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تأكيد الطلب.</a:t>
            </a:r>
            <a:endParaRPr lang="ar-EG" dirty="0"/>
          </a:p>
        </p:txBody>
      </p:sp>
      <p:sp>
        <p:nvSpPr>
          <p:cNvPr id="10" name="Rectangle 9"/>
          <p:cNvSpPr/>
          <p:nvPr/>
        </p:nvSpPr>
        <p:spPr>
          <a:xfrm>
            <a:off x="835268" y="5655795"/>
            <a:ext cx="43609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6</a:t>
            </a:r>
            <a:r>
              <a:rPr lang="en-US" b="1" dirty="0" smtClean="0"/>
              <a:t> </a:t>
            </a:r>
            <a:r>
              <a:rPr lang="ar-EG" b="1" dirty="0" smtClean="0"/>
              <a:t>بعد إتمام الطلب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يتم إرسال الطلب إلى الصيدلية/المستودع.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يتم التواصل مع المستخدم عبر المندوب لتسليم الطلب.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79772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32932" y="228572"/>
            <a:ext cx="4047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dirty="0" smtClean="0"/>
              <a:t>Slide 6 – </a:t>
            </a:r>
            <a:r>
              <a:rPr lang="ar-EG" dirty="0" smtClean="0"/>
              <a:t>المفضلة + الملف الشخصي + الإشعارات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251192" y="744894"/>
            <a:ext cx="45305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1</a:t>
            </a:r>
            <a:r>
              <a:rPr lang="en-US" b="1" dirty="0" smtClean="0"/>
              <a:t> </a:t>
            </a:r>
            <a:r>
              <a:rPr lang="ar-EG" b="1" dirty="0" smtClean="0"/>
              <a:t>أولًا: المفضلة (</a:t>
            </a:r>
            <a:r>
              <a:rPr lang="en-US" b="1" dirty="0" err="1" smtClean="0"/>
              <a:t>Wishlist</a:t>
            </a:r>
            <a:r>
              <a:rPr lang="en-US" b="1" dirty="0" smtClean="0"/>
              <a:t>)</a:t>
            </a:r>
          </a:p>
          <a:p>
            <a:pPr algn="r" rtl="1"/>
            <a:r>
              <a:rPr lang="ar-EG" b="1" dirty="0" smtClean="0"/>
              <a:t>مميزات المفضلة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حفظ الأدوية التي يهتم بها المستخدم للعودة إليها لاحقًا.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عرض: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اسم الدواء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السعر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الصورة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خيارات سريعة: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إزالة الدواء من المفضلة</a:t>
            </a:r>
            <a:endParaRPr lang="ar-EG" dirty="0" smtClean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إضافة الدواء إلى عربة المشتريات</a:t>
            </a:r>
            <a:endParaRPr lang="ar-EG" dirty="0" smtClean="0"/>
          </a:p>
          <a:p>
            <a:pPr algn="r" rtl="1"/>
            <a:r>
              <a:rPr lang="ar-EG" b="1" dirty="0" smtClean="0"/>
              <a:t>هدف الميزة</a:t>
            </a:r>
          </a:p>
          <a:p>
            <a:pPr algn="r" rtl="1"/>
            <a:r>
              <a:rPr lang="ar-EG" dirty="0" smtClean="0"/>
              <a:t>تسهيل الوصول لمنتجات مهمة بدون الحاجة للبحث المتكرر.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1155192" y="0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🔷 </a:t>
            </a:r>
            <a:r>
              <a:rPr lang="ar-EG" b="1" dirty="0" smtClean="0"/>
              <a:t>2ثانيًا: الملف الشخصي (</a:t>
            </a:r>
            <a:r>
              <a:rPr lang="en-US" b="1" dirty="0" smtClean="0"/>
              <a:t>User Profile)</a:t>
            </a:r>
          </a:p>
          <a:p>
            <a:pPr algn="r" rtl="1"/>
            <a:r>
              <a:rPr lang="ar-EG" b="1" dirty="0" smtClean="0"/>
              <a:t>بيانات المستخدم المعروضة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الاسم الكامل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الجنس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تاريخ الميلاد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البريد الإلكتروني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رقم الهاتف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العنوان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الطول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الوزن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فصيلة الدم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الحالة الصحية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الأمراض المزمنة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الحساسية</a:t>
            </a:r>
          </a:p>
          <a:p>
            <a:pPr algn="r" rtl="1"/>
            <a:r>
              <a:rPr lang="ar-EG" b="1" dirty="0" smtClean="0"/>
              <a:t>خيارات المستخدم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تعديل البيانات (ما عدا الاسم، الجنس، البريد، الهاتف، العنوان الأساسي).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إضافة عنوان ثانٍ أو رقم هاتف إضافي.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حفظ التعديلات مباشرة في قاعدة البيانات.</a:t>
            </a:r>
          </a:p>
          <a:p>
            <a:pPr algn="r" rtl="1"/>
            <a:r>
              <a:rPr lang="ar-EG" b="1" dirty="0" smtClean="0"/>
              <a:t>هدف الصفحة</a:t>
            </a:r>
          </a:p>
          <a:p>
            <a:pPr algn="r" rtl="1"/>
            <a:r>
              <a:rPr lang="ar-EG" dirty="0" smtClean="0"/>
              <a:t>تقديم تجربة شخصية كاملة وتحسين البيانات الصحية للمستخدم داخل المنصة.</a:t>
            </a:r>
            <a:endParaRPr lang="ar-EG" dirty="0"/>
          </a:p>
        </p:txBody>
      </p:sp>
      <p:sp>
        <p:nvSpPr>
          <p:cNvPr id="7" name="Rectangle 6"/>
          <p:cNvSpPr/>
          <p:nvPr/>
        </p:nvSpPr>
        <p:spPr>
          <a:xfrm>
            <a:off x="-2018106" y="-28"/>
            <a:ext cx="558311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3</a:t>
            </a:r>
            <a:r>
              <a:rPr lang="en-US" b="1" dirty="0" smtClean="0"/>
              <a:t> </a:t>
            </a:r>
            <a:r>
              <a:rPr lang="ar-EG" b="1" dirty="0" smtClean="0"/>
              <a:t>ثالثًا: الإشعارات (</a:t>
            </a:r>
            <a:r>
              <a:rPr lang="en-US" b="1" dirty="0" smtClean="0"/>
              <a:t>Notifications)</a:t>
            </a:r>
          </a:p>
          <a:p>
            <a:pPr algn="r" rtl="1"/>
            <a:r>
              <a:rPr lang="ar-EG" b="1" dirty="0" smtClean="0"/>
              <a:t>نوع الإشعارات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ردود الصيدليات على طلبات الأدوية الناقصة.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إشعارات توفر دواء معيّن.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تحديث حالة الطلب (</a:t>
            </a:r>
            <a:r>
              <a:rPr lang="en-US" dirty="0" smtClean="0"/>
              <a:t>Order Status).</a:t>
            </a:r>
          </a:p>
          <a:p>
            <a:pPr algn="r" rtl="1"/>
            <a:r>
              <a:rPr lang="ar-EG" b="1" dirty="0" smtClean="0"/>
              <a:t>محتوى الإشعار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اسم الصيدلية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العنوان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رقم الهاتف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الكمية المتاحة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وقت وتاريخ الرد</a:t>
            </a:r>
          </a:p>
          <a:p>
            <a:pPr algn="r" rtl="1"/>
            <a:r>
              <a:rPr lang="ar-EG" b="1" dirty="0" smtClean="0"/>
              <a:t>هدف الميزة</a:t>
            </a:r>
          </a:p>
          <a:p>
            <a:pPr algn="r" rtl="1"/>
            <a:r>
              <a:rPr lang="ar-EG" dirty="0" smtClean="0"/>
              <a:t>متابعة الطلبات لحظة بلحظة بدون ما المستخدم يضطر يفتح صفحات كتير.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02518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72197" y="181094"/>
            <a:ext cx="4470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dirty="0" smtClean="0"/>
              <a:t>Slide 7 – </a:t>
            </a:r>
            <a:r>
              <a:rPr lang="ar-EG" dirty="0" smtClean="0"/>
              <a:t>واجهة الصيدلي (</a:t>
            </a:r>
            <a:r>
              <a:rPr lang="en-US" dirty="0" smtClean="0"/>
              <a:t>Pharmacist Dashboard)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644896" y="83678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1</a:t>
            </a:r>
            <a:r>
              <a:rPr lang="en-US" b="1" dirty="0" smtClean="0"/>
              <a:t> </a:t>
            </a:r>
            <a:r>
              <a:rPr lang="ar-EG" b="1" dirty="0" smtClean="0"/>
              <a:t>نظرة عامة</a:t>
            </a:r>
          </a:p>
          <a:p>
            <a:pPr algn="r" rtl="1"/>
            <a:r>
              <a:rPr lang="ar-EG" dirty="0" smtClean="0"/>
              <a:t>توفر واجهة الصيدلي مجموعة من الأدوات التي تسمح له بإدارة الطلبات الواردة من المستخدمين والرد عليها بسهولة واحترافية.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7818120" y="1962853"/>
            <a:ext cx="39227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2</a:t>
            </a:r>
            <a:r>
              <a:rPr lang="en-US" b="1" dirty="0" smtClean="0"/>
              <a:t> </a:t>
            </a:r>
            <a:r>
              <a:rPr lang="ar-EG" b="1" dirty="0" smtClean="0"/>
              <a:t>مكوّنات الواجهة</a:t>
            </a:r>
          </a:p>
          <a:p>
            <a:pPr algn="r" rtl="1"/>
            <a:r>
              <a:rPr lang="ar-EG" b="1" dirty="0" smtClean="0"/>
              <a:t>1) الصفحة الرئيسية (</a:t>
            </a:r>
            <a:r>
              <a:rPr lang="en-US" b="1" dirty="0" smtClean="0"/>
              <a:t>Home / Overview)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نبذة سريعة عن الصيدلية وخدماتها.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إحصائيات مختصرة عن الطلبات والردود.</a:t>
            </a:r>
            <a:endParaRPr lang="ar-EG" dirty="0"/>
          </a:p>
        </p:txBody>
      </p:sp>
      <p:sp>
        <p:nvSpPr>
          <p:cNvPr id="7" name="Rectangle 6"/>
          <p:cNvSpPr/>
          <p:nvPr/>
        </p:nvSpPr>
        <p:spPr>
          <a:xfrm>
            <a:off x="5644896" y="315532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ar-EG" b="1" dirty="0" smtClean="0"/>
              <a:t>2) طلبات المستخدمين (</a:t>
            </a:r>
            <a:r>
              <a:rPr lang="en-US" b="1" dirty="0" smtClean="0"/>
              <a:t>User Requests – Missing Medicines)</a:t>
            </a:r>
          </a:p>
          <a:p>
            <a:pPr algn="r" rtl="1"/>
            <a:r>
              <a:rPr lang="ar-EG" dirty="0" smtClean="0"/>
              <a:t>هذه هي أهم صفحة للصيدلي، ويستطيع من خلالها: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رؤية جميع الطلبات الواردة من المستخدمين.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معرفة اسم الدواء والكمية المطلوبة والتاريخ والوقت.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تحديد الكمية المتوفرة لديه (حتى لو أقل من المطلوبة).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الضغط على </a:t>
            </a:r>
            <a:r>
              <a:rPr lang="ar-EG" b="1" dirty="0" smtClean="0"/>
              <a:t>"متوفر لدي"</a:t>
            </a:r>
            <a:r>
              <a:rPr lang="ar-EG" dirty="0" smtClean="0"/>
              <a:t> لإرسال الرد مباشرة للمستخدم.</a:t>
            </a:r>
            <a:endParaRPr lang="ar-EG" dirty="0"/>
          </a:p>
        </p:txBody>
      </p:sp>
      <p:sp>
        <p:nvSpPr>
          <p:cNvPr id="8" name="Rectangle 7"/>
          <p:cNvSpPr/>
          <p:nvPr/>
        </p:nvSpPr>
        <p:spPr>
          <a:xfrm>
            <a:off x="6537960" y="4909651"/>
            <a:ext cx="52029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3) الطلبات المتاحة (</a:t>
            </a:r>
            <a:r>
              <a:rPr lang="en-US" b="1" dirty="0" smtClean="0"/>
              <a:t>Available Requests)</a:t>
            </a:r>
          </a:p>
          <a:p>
            <a:pPr algn="r" rtl="1"/>
            <a:r>
              <a:rPr lang="ar-EG" dirty="0" smtClean="0"/>
              <a:t>صفحة تُظهر الطلبات التي قام الصيدلي بالرد عليها مسبقًا، وتشمل: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اسم الدواء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الكمية المتوفرة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تاريخ الرد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حالة الطلب</a:t>
            </a:r>
          </a:p>
          <a:p>
            <a:pPr algn="r" rtl="1"/>
            <a:r>
              <a:rPr lang="ar-EG" i="1" dirty="0" smtClean="0"/>
              <a:t>وهي مرجع سريع للصيدلي لمعرفة ردوده السابقة.</a:t>
            </a:r>
            <a:endParaRPr lang="ar-EG" dirty="0"/>
          </a:p>
        </p:txBody>
      </p:sp>
      <p:sp>
        <p:nvSpPr>
          <p:cNvPr id="9" name="Rectangle 8"/>
          <p:cNvSpPr/>
          <p:nvPr/>
        </p:nvSpPr>
        <p:spPr>
          <a:xfrm>
            <a:off x="722376" y="181094"/>
            <a:ext cx="45079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4) الملف الشخصي للصيدلي (</a:t>
            </a:r>
            <a:r>
              <a:rPr lang="en-US" b="1" dirty="0" smtClean="0"/>
              <a:t>Pharmacist Profile)</a:t>
            </a:r>
          </a:p>
          <a:p>
            <a:pPr algn="r" rtl="1"/>
            <a:r>
              <a:rPr lang="ar-EG" dirty="0" smtClean="0"/>
              <a:t>يحتوي على بيانات: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اسم الصيدلية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البريد الإلكتروني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العنوان الأساسي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رقم الهاتف</a:t>
            </a:r>
          </a:p>
          <a:p>
            <a:pPr algn="r" rtl="1"/>
            <a:r>
              <a:rPr lang="ar-EG" b="1" dirty="0" smtClean="0"/>
              <a:t>خيارات التعديل:</a:t>
            </a:r>
            <a:endParaRPr lang="ar-EG" dirty="0" smtClean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إضافة عنوان جديد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إضافة رقم هاتف إضافي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تعديل أي بيانات غير أساسية</a:t>
            </a:r>
            <a:endParaRPr lang="ar-EG" dirty="0"/>
          </a:p>
        </p:txBody>
      </p:sp>
      <p:sp>
        <p:nvSpPr>
          <p:cNvPr id="10" name="Rectangle 9"/>
          <p:cNvSpPr/>
          <p:nvPr/>
        </p:nvSpPr>
        <p:spPr>
          <a:xfrm>
            <a:off x="1426464" y="3429000"/>
            <a:ext cx="3803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3</a:t>
            </a:r>
            <a:r>
              <a:rPr lang="en-US" b="1" dirty="0" smtClean="0"/>
              <a:t> </a:t>
            </a:r>
            <a:r>
              <a:rPr lang="ar-EG" b="1" dirty="0" smtClean="0"/>
              <a:t>هدف واجهة الصيدلي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تسهيل عملية الربط بين المستخدم والصيدليات.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تنظيم الطلبات والردود في مكان واحد.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ضمان سرعة توفير الدواء للمستخدم.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819318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07183" y="272534"/>
            <a:ext cx="39697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b="1" dirty="0" smtClean="0"/>
              <a:t>Slide 8 – </a:t>
            </a:r>
            <a:r>
              <a:rPr lang="ar-EG" b="1" dirty="0" smtClean="0"/>
              <a:t>واجهة الأدمن (</a:t>
            </a:r>
            <a:r>
              <a:rPr lang="en-US" b="1" dirty="0" smtClean="0"/>
              <a:t>Admin Dashboard)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80924" y="86597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1</a:t>
            </a:r>
            <a:r>
              <a:rPr lang="en-US" b="1" dirty="0" smtClean="0"/>
              <a:t> </a:t>
            </a:r>
            <a:r>
              <a:rPr lang="ar-EG" b="1" dirty="0" smtClean="0"/>
              <a:t>نظرة عامة</a:t>
            </a:r>
          </a:p>
          <a:p>
            <a:pPr algn="r" rtl="1"/>
            <a:r>
              <a:rPr lang="ar-EG" dirty="0" smtClean="0"/>
              <a:t>واجهة الأدمن هي مركز التحكم الرئيسي في النظام، وتسمح بمتابعة كل تفاصيل المنصة، وإدارة المستخدمين والصيدليات والطلبات والإحصائيات.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7386278" y="2013412"/>
            <a:ext cx="429064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2</a:t>
            </a:r>
            <a:r>
              <a:rPr lang="en-US" b="1" dirty="0" smtClean="0"/>
              <a:t> </a:t>
            </a:r>
            <a:r>
              <a:rPr lang="ar-EG" b="1" dirty="0" smtClean="0"/>
              <a:t>مكوّنات لوحة القيادة (</a:t>
            </a:r>
            <a:r>
              <a:rPr lang="en-US" b="1" dirty="0" smtClean="0"/>
              <a:t>Dashboard Overview)</a:t>
            </a:r>
          </a:p>
          <a:p>
            <a:pPr algn="r" rtl="1"/>
            <a:r>
              <a:rPr lang="en-US" b="1" dirty="0" smtClean="0"/>
              <a:t>1) </a:t>
            </a:r>
            <a:r>
              <a:rPr lang="ar-EG" b="1" dirty="0" smtClean="0"/>
              <a:t>الإحصائيات السريعة (</a:t>
            </a:r>
            <a:r>
              <a:rPr lang="en-US" b="1" dirty="0" smtClean="0"/>
              <a:t>Quick Stats)</a:t>
            </a:r>
          </a:p>
          <a:p>
            <a:pPr algn="r" rtl="1"/>
            <a:r>
              <a:rPr lang="ar-EG" dirty="0" smtClean="0"/>
              <a:t>تُظهر أهم الأرقام بشكل مباشر: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عدد المستخدمين الجدد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عدد الصيدليات المسجّلة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عدد الطلبات اليومية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عدد المستخدمين المحظورين</a:t>
            </a:r>
            <a:endParaRPr lang="ar-EG" dirty="0"/>
          </a:p>
        </p:txBody>
      </p:sp>
      <p:sp>
        <p:nvSpPr>
          <p:cNvPr id="7" name="Rectangle 6"/>
          <p:cNvSpPr/>
          <p:nvPr/>
        </p:nvSpPr>
        <p:spPr>
          <a:xfrm>
            <a:off x="8344639" y="3982805"/>
            <a:ext cx="33322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2) حالة الطلبات (</a:t>
            </a:r>
            <a:r>
              <a:rPr lang="en-US" b="1" dirty="0" smtClean="0"/>
              <a:t>Requests Status)</a:t>
            </a:r>
          </a:p>
          <a:p>
            <a:pPr algn="r" rtl="1"/>
            <a:r>
              <a:rPr lang="ar-EG" dirty="0" smtClean="0"/>
              <a:t>عرض تصنيفي لحالات الطلبات: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مقبول (</a:t>
            </a:r>
            <a:r>
              <a:rPr lang="en-US" dirty="0" smtClean="0"/>
              <a:t>Accepted)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قيد المراجعة (</a:t>
            </a:r>
            <a:r>
              <a:rPr lang="en-US" dirty="0" smtClean="0"/>
              <a:t>Pending)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مرفوض / محظور</a:t>
            </a:r>
            <a:endParaRPr lang="ar-EG" dirty="0"/>
          </a:p>
        </p:txBody>
      </p:sp>
      <p:sp>
        <p:nvSpPr>
          <p:cNvPr id="8" name="Rectangle 7"/>
          <p:cNvSpPr/>
          <p:nvPr/>
        </p:nvSpPr>
        <p:spPr>
          <a:xfrm>
            <a:off x="7707183" y="5460133"/>
            <a:ext cx="4000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3) معدل الطلبات الأسبوعية (</a:t>
            </a:r>
            <a:r>
              <a:rPr lang="en-US" b="1" dirty="0" smtClean="0"/>
              <a:t>Weekly Activity)</a:t>
            </a:r>
          </a:p>
          <a:p>
            <a:pPr algn="r" rtl="1"/>
            <a:r>
              <a:rPr lang="ar-EG" dirty="0" smtClean="0"/>
              <a:t>مخطط بياني يوضّح: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عدد الطلبات كل يوم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النشاط الأسبوعي للنظام</a:t>
            </a:r>
            <a:endParaRPr lang="ar-EG" dirty="0"/>
          </a:p>
        </p:txBody>
      </p:sp>
      <p:sp>
        <p:nvSpPr>
          <p:cNvPr id="9" name="Rectangle 8"/>
          <p:cNvSpPr/>
          <p:nvPr/>
        </p:nvSpPr>
        <p:spPr>
          <a:xfrm>
            <a:off x="1248506" y="206468"/>
            <a:ext cx="391257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4) أحدث الطلبات (</a:t>
            </a:r>
            <a:r>
              <a:rPr lang="en-US" b="1" dirty="0" smtClean="0"/>
              <a:t>Recent Requests Table)</a:t>
            </a:r>
          </a:p>
          <a:p>
            <a:pPr algn="r" rtl="1"/>
            <a:r>
              <a:rPr lang="ar-EG" dirty="0" smtClean="0"/>
              <a:t>جدول مفصل يحتوي على: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dirty="0" smtClean="0"/>
              <a:t>ID </a:t>
            </a:r>
            <a:r>
              <a:rPr lang="ar-EG" dirty="0" smtClean="0"/>
              <a:t>المستخدم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اسم المستخدم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اسم الدواء المطلوب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حالة الطلب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التاريخ ووقت الإنشاء</a:t>
            </a:r>
            <a:endParaRPr lang="ar-EG" dirty="0"/>
          </a:p>
        </p:txBody>
      </p:sp>
      <p:sp>
        <p:nvSpPr>
          <p:cNvPr id="10" name="Rectangle 9"/>
          <p:cNvSpPr/>
          <p:nvPr/>
        </p:nvSpPr>
        <p:spPr>
          <a:xfrm>
            <a:off x="1090245" y="2338562"/>
            <a:ext cx="407083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5) الحسابات الجديدة (</a:t>
            </a:r>
            <a:r>
              <a:rPr lang="en-US" b="1" dirty="0" smtClean="0"/>
              <a:t>New Accounts Table)</a:t>
            </a:r>
          </a:p>
          <a:p>
            <a:pPr algn="r" rtl="1"/>
            <a:r>
              <a:rPr lang="ar-EG" dirty="0" smtClean="0"/>
              <a:t>قائمة بالحسابات التي تم إنشاؤها حديثًا وتشمل: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dirty="0" smtClean="0"/>
              <a:t>ID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الاسم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البريد الإلكتروني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رقم الهاتف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الدور (صيدلي/مستخدم)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تاريخ الإنشاء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الإجراءات: تعديل – حذف – حظر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487694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15976" y="210988"/>
            <a:ext cx="3969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b="1" dirty="0" smtClean="0"/>
              <a:t>Slide 8 – </a:t>
            </a:r>
            <a:r>
              <a:rPr lang="ar-EG" b="1" dirty="0" smtClean="0"/>
              <a:t>واجهة الأدمن (</a:t>
            </a:r>
            <a:r>
              <a:rPr lang="en-US" b="1" dirty="0" smtClean="0"/>
              <a:t>Admin Dashboard)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702799" y="835461"/>
            <a:ext cx="398291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3</a:t>
            </a:r>
            <a:r>
              <a:rPr lang="en-US" b="1" dirty="0" smtClean="0"/>
              <a:t> </a:t>
            </a:r>
            <a:r>
              <a:rPr lang="ar-EG" b="1" dirty="0" smtClean="0"/>
              <a:t>صفحات الإدارة (</a:t>
            </a:r>
            <a:r>
              <a:rPr lang="en-US" b="1" dirty="0" smtClean="0"/>
              <a:t>Management Pages)</a:t>
            </a:r>
          </a:p>
          <a:p>
            <a:pPr algn="r" rtl="1"/>
            <a:r>
              <a:rPr lang="en-US" b="1" dirty="0" smtClean="0"/>
              <a:t>6) </a:t>
            </a:r>
            <a:r>
              <a:rPr lang="ar-EG" b="1" dirty="0" smtClean="0"/>
              <a:t>إدارة المستخدمين (</a:t>
            </a:r>
            <a:r>
              <a:rPr lang="en-US" b="1" dirty="0" smtClean="0"/>
              <a:t>Users Management)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قائمة كاملة بالمستخدمين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تعديل بيانات المستخدم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حذف أو حظر حساب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البحث باسم المستخدم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7333524" y="2690336"/>
            <a:ext cx="43521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7) إدارة الصيدليات (</a:t>
            </a:r>
            <a:r>
              <a:rPr lang="en-US" b="1" dirty="0" smtClean="0"/>
              <a:t>Pharmacies Management)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جدول كامل بالصيدليات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الإيميل – العنوان – الهاتف – تاريخ الإنشاء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تعديل – حذف – حظر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البحث باسم الصيدلية</a:t>
            </a:r>
            <a:endParaRPr lang="ar-EG" dirty="0"/>
          </a:p>
        </p:txBody>
      </p:sp>
      <p:sp>
        <p:nvSpPr>
          <p:cNvPr id="7" name="Rectangle 6"/>
          <p:cNvSpPr/>
          <p:nvPr/>
        </p:nvSpPr>
        <p:spPr>
          <a:xfrm>
            <a:off x="6762024" y="4308231"/>
            <a:ext cx="49236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8) إدارة طلبات المستخدمين (</a:t>
            </a:r>
            <a:r>
              <a:rPr lang="en-US" b="1" dirty="0" smtClean="0"/>
              <a:t>Requests Management)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جميع الطلبات الواردة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اسم المستخدم – بريده – هاتفه – وقت الطلب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حالة الطلب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الإجراءات (تعديل – حذف – حظر)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البحث باسم المستخدم أو اسم الدواء</a:t>
            </a:r>
            <a:endParaRPr lang="ar-EG" dirty="0"/>
          </a:p>
        </p:txBody>
      </p:sp>
      <p:sp>
        <p:nvSpPr>
          <p:cNvPr id="8" name="Rectangle 7"/>
          <p:cNvSpPr/>
          <p:nvPr/>
        </p:nvSpPr>
        <p:spPr>
          <a:xfrm>
            <a:off x="2373923" y="0"/>
            <a:ext cx="368397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b="1" dirty="0" smtClean="0"/>
              <a:t>9) صفحة الإحصائيات (</a:t>
            </a:r>
            <a:r>
              <a:rPr lang="en-US" b="1" dirty="0" smtClean="0"/>
              <a:t>Statistics Page)</a:t>
            </a:r>
          </a:p>
          <a:p>
            <a:pPr algn="r" rtl="1"/>
            <a:r>
              <a:rPr lang="ar-EG" dirty="0" smtClean="0"/>
              <a:t>تعرض: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إجمالي المستخدمين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إجمالي الصيدليات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إجمالي الطلبات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إجمالي المحظورين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عدد المستخدمين شهريًا</a:t>
            </a:r>
            <a:endParaRPr lang="ar-EG" dirty="0"/>
          </a:p>
        </p:txBody>
      </p:sp>
      <p:sp>
        <p:nvSpPr>
          <p:cNvPr id="9" name="Rectangle 8"/>
          <p:cNvSpPr/>
          <p:nvPr/>
        </p:nvSpPr>
        <p:spPr>
          <a:xfrm>
            <a:off x="1723292" y="2345259"/>
            <a:ext cx="43346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🔷</a:t>
            </a:r>
            <a:r>
              <a:rPr lang="ar-EG" b="1" dirty="0" smtClean="0"/>
              <a:t>4</a:t>
            </a:r>
            <a:r>
              <a:rPr lang="en-US" b="1" dirty="0" smtClean="0"/>
              <a:t> </a:t>
            </a:r>
            <a:r>
              <a:rPr lang="ar-EG" b="1" dirty="0" smtClean="0"/>
              <a:t>هدف واجهة الأدمن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التحكم الكامل في النظام.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الحفاظ على النظام من التخريب أو الحسابات المخالفة.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تنظيم البيانات ومتابعة كل الأنشطة.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124472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409372" y="219780"/>
            <a:ext cx="3233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dirty="0" smtClean="0"/>
              <a:t>Slide 9 – </a:t>
            </a:r>
            <a:r>
              <a:rPr lang="ar-EG" dirty="0" smtClean="0"/>
              <a:t>تسجيل الدخول وإنشاء الحساب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46950" y="784582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🔐 1. </a:t>
            </a:r>
            <a:r>
              <a:rPr lang="ar-EG" b="1" dirty="0" smtClean="0"/>
              <a:t>طرق الدخول للمشروع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زائر (</a:t>
            </a:r>
            <a:r>
              <a:rPr lang="en-US" b="1" dirty="0" smtClean="0"/>
              <a:t>Guest):</a:t>
            </a:r>
            <a:r>
              <a:rPr lang="en-US" dirty="0" smtClean="0"/>
              <a:t> </a:t>
            </a:r>
            <a:r>
              <a:rPr lang="ar-EG" dirty="0" smtClean="0"/>
              <a:t>يقدر يتصفّح المنتجات والمعلومات بدون إنشاء حساب.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مستخدم (</a:t>
            </a:r>
            <a:r>
              <a:rPr lang="en-US" b="1" dirty="0" smtClean="0"/>
              <a:t>User):</a:t>
            </a:r>
            <a:r>
              <a:rPr lang="en-US" dirty="0" smtClean="0"/>
              <a:t> </a:t>
            </a:r>
            <a:r>
              <a:rPr lang="ar-EG" dirty="0" smtClean="0"/>
              <a:t>بعد تسجيل حساب يقدر يستخدم كل الخدمات الأساسية.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صيدلي (</a:t>
            </a:r>
            <a:r>
              <a:rPr lang="en-US" b="1" dirty="0" smtClean="0"/>
              <a:t>Pharmacist):</a:t>
            </a:r>
            <a:r>
              <a:rPr lang="en-US" dirty="0" smtClean="0"/>
              <a:t> </a:t>
            </a:r>
            <a:r>
              <a:rPr lang="ar-EG" dirty="0" smtClean="0"/>
              <a:t>حساب خاص له صلاحيات إضافية مثل رفع منتجات أو مراجعة الوصفات.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أدمن (</a:t>
            </a:r>
            <a:r>
              <a:rPr lang="en-US" b="1" dirty="0" smtClean="0"/>
              <a:t>Admin):</a:t>
            </a:r>
            <a:r>
              <a:rPr lang="en-US" dirty="0" smtClean="0"/>
              <a:t> </a:t>
            </a:r>
            <a:r>
              <a:rPr lang="ar-EG" dirty="0" smtClean="0"/>
              <a:t>مدير النظام وله كل الصلاحيات.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8185638" y="2828835"/>
            <a:ext cx="33586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📝 2. </a:t>
            </a:r>
            <a:r>
              <a:rPr lang="ar-EG" b="1" dirty="0" smtClean="0"/>
              <a:t>إنشاء حساب جديد</a:t>
            </a:r>
          </a:p>
          <a:p>
            <a:pPr algn="r" rtl="1"/>
            <a:r>
              <a:rPr lang="ar-EG" dirty="0" smtClean="0"/>
              <a:t>عند التسجيل، المستخدم يقدر يكتب: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الاسم – الإيميل – الباسورد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يختار هل هو </a:t>
            </a:r>
            <a:r>
              <a:rPr lang="en-US" i="1" dirty="0" smtClean="0"/>
              <a:t>User</a:t>
            </a:r>
            <a:r>
              <a:rPr lang="en-US" dirty="0" smtClean="0"/>
              <a:t> </a:t>
            </a:r>
            <a:r>
              <a:rPr lang="ar-EG" dirty="0" smtClean="0"/>
              <a:t>أو </a:t>
            </a:r>
            <a:r>
              <a:rPr lang="en-US" i="1" dirty="0" smtClean="0"/>
              <a:t>Pharmacist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546950" y="443347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🔑 3. </a:t>
            </a:r>
            <a:r>
              <a:rPr lang="ar-EG" b="1" dirty="0" smtClean="0"/>
              <a:t>تسجيل الدخول</a:t>
            </a:r>
          </a:p>
          <a:p>
            <a:pPr algn="r" rtl="1"/>
            <a:r>
              <a:rPr lang="ar-EG" dirty="0" smtClean="0"/>
              <a:t>بعد إنشاء الحساب يقدر يعمل </a:t>
            </a:r>
            <a:r>
              <a:rPr lang="en-US" dirty="0" smtClean="0"/>
              <a:t>Login </a:t>
            </a:r>
            <a:r>
              <a:rPr lang="ar-EG" dirty="0" smtClean="0"/>
              <a:t>ويدخل على الواجهة المناسبة حسب دوره.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452262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07467" y="263742"/>
            <a:ext cx="3584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dirty="0" smtClean="0"/>
              <a:t>Slide 10 – </a:t>
            </a:r>
            <a:r>
              <a:rPr lang="ar-EG" dirty="0" smtClean="0"/>
              <a:t>الخاتمة &amp; </a:t>
            </a:r>
            <a:r>
              <a:rPr lang="en-US" dirty="0" smtClean="0"/>
              <a:t>Why Our Project?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492261" y="843677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✨ </a:t>
            </a:r>
            <a:r>
              <a:rPr lang="ar-EG" b="1" dirty="0" smtClean="0"/>
              <a:t>المميزات العامة للمشروع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سهولة الاستخدام</a:t>
            </a:r>
            <a:r>
              <a:rPr lang="ar-EG" dirty="0" smtClean="0"/>
              <a:t> بواجهة بسيطة وسريعة لأي مستخدم.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تعدد الأدوار</a:t>
            </a:r>
            <a:r>
              <a:rPr lang="ar-EG" dirty="0" smtClean="0"/>
              <a:t> وتخصيص صلاحيات مختلفة لكل دور (</a:t>
            </a:r>
            <a:r>
              <a:rPr lang="en-US" dirty="0" smtClean="0"/>
              <a:t>User – Pharmacist – Admin).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أمان وحماية البيانات</a:t>
            </a:r>
            <a:r>
              <a:rPr lang="ar-EG" dirty="0" smtClean="0"/>
              <a:t> مع تشفير كلمات المرور وتنظيم الصلاحيات.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تكامل الخدمات</a:t>
            </a:r>
            <a:r>
              <a:rPr lang="ar-EG" dirty="0" smtClean="0"/>
              <a:t> (شراء الأدوية – طلب الاستشارات – متابعة الحالة – إضافة وصفات).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تحديثات ديناميكية</a:t>
            </a:r>
            <a:r>
              <a:rPr lang="ar-EG" dirty="0" smtClean="0"/>
              <a:t> باستخدام </a:t>
            </a:r>
            <a:r>
              <a:rPr lang="en-US" dirty="0" smtClean="0"/>
              <a:t>API </a:t>
            </a:r>
            <a:r>
              <a:rPr lang="ar-EG" dirty="0" smtClean="0"/>
              <a:t>لعرض أحدث المنتجات.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b="1" dirty="0" smtClean="0"/>
              <a:t>إدارة كاملة للنظام</a:t>
            </a:r>
            <a:r>
              <a:rPr lang="ar-EG" dirty="0" smtClean="0"/>
              <a:t> من خلال </a:t>
            </a:r>
            <a:r>
              <a:rPr lang="en-US" dirty="0" smtClean="0"/>
              <a:t>Dashboard </a:t>
            </a:r>
            <a:r>
              <a:rPr lang="ar-EG" dirty="0" smtClean="0"/>
              <a:t>متطورة للأدمن.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5492261" y="395612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❓ </a:t>
            </a:r>
            <a:r>
              <a:rPr lang="ar-EG" b="1" dirty="0" smtClean="0"/>
              <a:t>ليه مشروعنا مميز؟ (</a:t>
            </a:r>
            <a:r>
              <a:rPr lang="en-US" b="1" dirty="0" smtClean="0"/>
              <a:t>Why Our Project?)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لأنه </a:t>
            </a:r>
            <a:r>
              <a:rPr lang="ar-EG" b="1" dirty="0" smtClean="0"/>
              <a:t>يوفر حل طبي متكامل</a:t>
            </a:r>
            <a:r>
              <a:rPr lang="ar-EG" dirty="0" smtClean="0"/>
              <a:t> لمستخدم، صيدلي، وأدمن في منصة واحدة.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لأنه </a:t>
            </a:r>
            <a:r>
              <a:rPr lang="ar-EG" b="1" dirty="0" smtClean="0"/>
              <a:t>يسهّل الوصول للأدوية والخدمات الطبية</a:t>
            </a:r>
            <a:r>
              <a:rPr lang="ar-EG" dirty="0" smtClean="0"/>
              <a:t> من أي مكان.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لأنه </a:t>
            </a:r>
            <a:r>
              <a:rPr lang="ar-EG" b="1" dirty="0" smtClean="0"/>
              <a:t>يعالج مشكلة الفوضى</a:t>
            </a:r>
            <a:r>
              <a:rPr lang="ar-EG" dirty="0" smtClean="0"/>
              <a:t> في إدارة الطلبات والوصفات.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لأنه </a:t>
            </a:r>
            <a:r>
              <a:rPr lang="ar-EG" b="1" dirty="0" smtClean="0"/>
              <a:t>يدعم التطوير المستقبلي</a:t>
            </a:r>
            <a:r>
              <a:rPr lang="ar-EG" dirty="0" smtClean="0"/>
              <a:t> بسهولة (سجلات المرضى – متابعة التحاليل – ذكاء صناعي للتشخيص… إلخ).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لأنه </a:t>
            </a:r>
            <a:r>
              <a:rPr lang="ar-EG" b="1" dirty="0" smtClean="0"/>
              <a:t>مصمَّم بعقلية </a:t>
            </a:r>
            <a:r>
              <a:rPr lang="en-US" b="1" dirty="0" smtClean="0"/>
              <a:t>System Thinking</a:t>
            </a:r>
            <a:r>
              <a:rPr lang="en-US" dirty="0" smtClean="0"/>
              <a:t> </a:t>
            </a:r>
            <a:r>
              <a:rPr lang="ar-EG" dirty="0" smtClean="0"/>
              <a:t>وليس مجرد </a:t>
            </a:r>
            <a:r>
              <a:rPr lang="en-US" dirty="0" smtClean="0"/>
              <a:t>Web App.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-1022838" y="28288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en-US" b="1" dirty="0" smtClean="0"/>
              <a:t>🧩 </a:t>
            </a:r>
            <a:r>
              <a:rPr lang="ar-EG" b="1" dirty="0" smtClean="0"/>
              <a:t>الخاتمة</a:t>
            </a:r>
          </a:p>
          <a:p>
            <a:pPr algn="r" rtl="1"/>
            <a:r>
              <a:rPr lang="ar-EG" dirty="0" smtClean="0"/>
              <a:t>مشروع </a:t>
            </a:r>
            <a:r>
              <a:rPr lang="ar-EG" b="1" dirty="0" smtClean="0"/>
              <a:t>صحتي</a:t>
            </a:r>
            <a:r>
              <a:rPr lang="ar-EG" dirty="0" smtClean="0"/>
              <a:t> هو خطوة نحو تحسين الخدمات الطبية الرقمية،</a:t>
            </a:r>
            <a:br>
              <a:rPr lang="ar-EG" dirty="0" smtClean="0"/>
            </a:br>
            <a:r>
              <a:rPr lang="ar-EG" dirty="0" smtClean="0"/>
              <a:t>وتوفير نظام شامل يخدم جميع الأطراف: مستخدم – صيدلي – أدمن،</a:t>
            </a:r>
            <a:br>
              <a:rPr lang="ar-EG" dirty="0" smtClean="0"/>
            </a:br>
            <a:r>
              <a:rPr lang="ar-EG" dirty="0" smtClean="0"/>
              <a:t>مع الحفاظ على الأمان، السهولة، والسرعة في الأداء.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155486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94482" y="298911"/>
            <a:ext cx="3017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dirty="0" smtClean="0"/>
              <a:t>Slide 10 – </a:t>
            </a:r>
            <a:r>
              <a:rPr lang="ar-EG" dirty="0" smtClean="0"/>
              <a:t>الخلاصة (</a:t>
            </a:r>
            <a:r>
              <a:rPr lang="en-US" dirty="0" smtClean="0"/>
              <a:t>Conclusion)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747846" y="1120676"/>
            <a:ext cx="63744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b="1" dirty="0" smtClean="0"/>
              <a:t>🔹 </a:t>
            </a:r>
            <a:r>
              <a:rPr lang="ar-EG" b="1" dirty="0" smtClean="0"/>
              <a:t>الخلاصة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مشروع </a:t>
            </a:r>
            <a:r>
              <a:rPr lang="ar-EG" b="1" dirty="0" smtClean="0"/>
              <a:t>صحّتي</a:t>
            </a:r>
            <a:r>
              <a:rPr lang="ar-EG" dirty="0" smtClean="0"/>
              <a:t> قدّم منصة طبية متكاملة تسهّل وصول المستخدم للخدمات الصحية.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ركّزنا على </a:t>
            </a:r>
            <a:r>
              <a:rPr lang="ar-EG" b="1" dirty="0" smtClean="0"/>
              <a:t>سهولة الاستخدام</a:t>
            </a:r>
            <a:r>
              <a:rPr lang="ar-EG" dirty="0" smtClean="0"/>
              <a:t> لجميع الأدوار (</a:t>
            </a:r>
            <a:r>
              <a:rPr lang="en-US" dirty="0" smtClean="0"/>
              <a:t>User – Pharmacist – Admin).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وفرنا </a:t>
            </a:r>
            <a:r>
              <a:rPr lang="ar-EG" b="1" dirty="0" smtClean="0"/>
              <a:t>حماية عالية</a:t>
            </a:r>
            <a:r>
              <a:rPr lang="ar-EG" dirty="0" smtClean="0"/>
              <a:t> للبيانات من خلال تسجيل آمن وصلاحيات مختلفة.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النظام قابل للتطوير والتوسّع مستقبلاً بإضافة خدمات جديدة.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EG" dirty="0" smtClean="0"/>
              <a:t>الهدف الأساسي هو </a:t>
            </a:r>
            <a:r>
              <a:rPr lang="ar-EG" b="1" dirty="0" smtClean="0"/>
              <a:t>تحسين جودة الخدمات الطبية الرقمية</a:t>
            </a:r>
            <a:r>
              <a:rPr lang="ar-EG" dirty="0" smtClean="0"/>
              <a:t>.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877623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2023</Words>
  <Application>Microsoft Office PowerPoint</Application>
  <PresentationFormat>Widescreen</PresentationFormat>
  <Paragraphs>343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 adel</dc:creator>
  <cp:lastModifiedBy>amir adel</cp:lastModifiedBy>
  <cp:revision>6</cp:revision>
  <dcterms:created xsi:type="dcterms:W3CDTF">2025-12-01T22:05:41Z</dcterms:created>
  <dcterms:modified xsi:type="dcterms:W3CDTF">2025-12-02T02:53:33Z</dcterms:modified>
</cp:coreProperties>
</file>